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2"/>
  </p:sldMasterIdLst>
  <p:notesMasterIdLst>
    <p:notesMasterId r:id="rId21"/>
  </p:notesMasterIdLst>
  <p:handoutMasterIdLst>
    <p:handoutMasterId r:id="rId22"/>
  </p:handoutMasterIdLst>
  <p:sldIdLst>
    <p:sldId id="258" r:id="rId3"/>
    <p:sldId id="299" r:id="rId4"/>
    <p:sldId id="300" r:id="rId5"/>
    <p:sldId id="304" r:id="rId6"/>
    <p:sldId id="310" r:id="rId7"/>
    <p:sldId id="269" r:id="rId8"/>
    <p:sldId id="305" r:id="rId9"/>
    <p:sldId id="301" r:id="rId10"/>
    <p:sldId id="311" r:id="rId11"/>
    <p:sldId id="313" r:id="rId12"/>
    <p:sldId id="312" r:id="rId13"/>
    <p:sldId id="306" r:id="rId14"/>
    <p:sldId id="314" r:id="rId15"/>
    <p:sldId id="307" r:id="rId16"/>
    <p:sldId id="308" r:id="rId17"/>
    <p:sldId id="309" r:id="rId18"/>
    <p:sldId id="303" r:id="rId19"/>
    <p:sldId id="257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905D2DC-9138-477E-A8CB-B4F454099B31}">
          <p14:sldIdLst>
            <p14:sldId id="258"/>
            <p14:sldId id="299"/>
            <p14:sldId id="300"/>
            <p14:sldId id="304"/>
            <p14:sldId id="310"/>
            <p14:sldId id="269"/>
            <p14:sldId id="305"/>
            <p14:sldId id="301"/>
            <p14:sldId id="311"/>
            <p14:sldId id="313"/>
            <p14:sldId id="312"/>
            <p14:sldId id="306"/>
            <p14:sldId id="314"/>
            <p14:sldId id="307"/>
            <p14:sldId id="308"/>
            <p14:sldId id="309"/>
            <p14:sldId id="303"/>
            <p14:sldId id="25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1682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709" autoAdjust="0"/>
    <p:restoredTop sz="94725" autoAdjust="0"/>
  </p:normalViewPr>
  <p:slideViewPr>
    <p:cSldViewPr>
      <p:cViewPr varScale="1">
        <p:scale>
          <a:sx n="105" d="100"/>
          <a:sy n="105" d="100"/>
        </p:scale>
        <p:origin x="1392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50A2CE-2BAF-4412-B9C3-63DD6B167203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6CEF8E-851A-4E86-840B-E429FE709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41612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4CC7FA-0A2D-4DD4-BF23-66C8A3BE4C6B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1DDCD4-8081-4A1E-8D98-9F1C7628E9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99968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To mention explanation on what happens when avg CPU util &lt; 50m</a:t>
            </a:r>
          </a:p>
        </p:txBody>
      </p:sp>
    </p:spTree>
    <p:extLst>
      <p:ext uri="{BB962C8B-B14F-4D97-AF65-F5344CB8AC3E}">
        <p14:creationId xmlns:p14="http://schemas.microsoft.com/office/powerpoint/2010/main" val="19272664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357DD-896C-C378-2054-EAC04F12B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A3050F-EC77-A45C-7DF7-6A29A704F7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77460F-B7AB-4537-8273-87B321A211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 number of replicas is calculated during the stabilization windows</a:t>
            </a:r>
          </a:p>
        </p:txBody>
      </p:sp>
    </p:spTree>
    <p:extLst>
      <p:ext uri="{BB962C8B-B14F-4D97-AF65-F5344CB8AC3E}">
        <p14:creationId xmlns:p14="http://schemas.microsoft.com/office/powerpoint/2010/main" val="33641571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 number of replicas is calculated during the stabilization windows</a:t>
            </a:r>
          </a:p>
        </p:txBody>
      </p:sp>
    </p:spTree>
    <p:extLst>
      <p:ext uri="{BB962C8B-B14F-4D97-AF65-F5344CB8AC3E}">
        <p14:creationId xmlns:p14="http://schemas.microsoft.com/office/powerpoint/2010/main" val="1138278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5F5B1-1F00-5A36-7048-04409C39D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178FFC-11A7-230D-2493-D9F42653C9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207C31-FCE3-9BE2-7387-60AE03EC5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 number of replicas is calculated during the stabilization windows</a:t>
            </a:r>
          </a:p>
        </p:txBody>
      </p:sp>
    </p:spTree>
    <p:extLst>
      <p:ext uri="{BB962C8B-B14F-4D97-AF65-F5344CB8AC3E}">
        <p14:creationId xmlns:p14="http://schemas.microsoft.com/office/powerpoint/2010/main" val="21684657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the term memory leak</a:t>
            </a:r>
          </a:p>
        </p:txBody>
      </p:sp>
    </p:spTree>
    <p:extLst>
      <p:ext uri="{BB962C8B-B14F-4D97-AF65-F5344CB8AC3E}">
        <p14:creationId xmlns:p14="http://schemas.microsoft.com/office/powerpoint/2010/main" val="30580930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Rules for scale-up velocity</a:t>
            </a:r>
          </a:p>
        </p:txBody>
      </p:sp>
    </p:spTree>
    <p:extLst>
      <p:ext uri="{BB962C8B-B14F-4D97-AF65-F5344CB8AC3E}">
        <p14:creationId xmlns:p14="http://schemas.microsoft.com/office/powerpoint/2010/main" val="23715725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8dc196bef6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8dc196bef6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b="1" i="1" baseline="0">
                <a:solidFill>
                  <a:srgbClr val="FFFF99"/>
                </a:solidFill>
                <a:latin typeface="Comic Sans MS" pitchFamily="66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baseline="0">
                <a:solidFill>
                  <a:schemeClr val="bg2"/>
                </a:solidFill>
                <a:latin typeface="Lucida Calligraphy" pitchFamily="66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172200"/>
            <a:ext cx="2133600" cy="365125"/>
          </a:xfrm>
        </p:spPr>
        <p:txBody>
          <a:bodyPr/>
          <a:lstStyle>
            <a:lvl1pPr>
              <a:defRPr sz="1600" baseline="0">
                <a:solidFill>
                  <a:schemeClr val="bg2"/>
                </a:solidFill>
                <a:latin typeface="Brush Script MT" pitchFamily="66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172200"/>
            <a:ext cx="2895600" cy="365125"/>
          </a:xfrm>
        </p:spPr>
        <p:txBody>
          <a:bodyPr/>
          <a:lstStyle>
            <a:lvl1pPr marL="0" algn="ctr" defTabSz="914400" rtl="0" eaLnBrk="1" latinLnBrk="0" hangingPunct="1">
              <a:defRPr lang="en-US" sz="1600" kern="1200" baseline="0" dirty="0" smtClean="0">
                <a:solidFill>
                  <a:schemeClr val="bg2"/>
                </a:solidFill>
                <a:latin typeface="Brush Script MT" pitchFamily="66" charset="0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172200"/>
            <a:ext cx="2133600" cy="365125"/>
          </a:xfrm>
        </p:spPr>
        <p:txBody>
          <a:bodyPr/>
          <a:lstStyle>
            <a:lvl1pPr>
              <a:defRPr lang="en-US" sz="1600" kern="1200" baseline="0" smtClean="0">
                <a:solidFill>
                  <a:schemeClr val="bg2"/>
                </a:solidFill>
                <a:latin typeface="Brush Script MT" pitchFamily="66" charset="0"/>
                <a:ea typeface="+mn-ea"/>
                <a:cs typeface="+mn-cs"/>
              </a:defRPr>
            </a:lvl1pPr>
          </a:lstStyle>
          <a:p>
            <a:fld id="{0F4794BE-3ABA-47D7-B493-F762948879A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Documents and Settings\User\Local Settings\Temporary Internet Files\Content.IE5\STEB01UR\MCj04348230000[1]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8305800" y="6096000"/>
            <a:ext cx="609600" cy="6096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72400" y="6248400"/>
            <a:ext cx="990600" cy="365125"/>
          </a:xfrm>
        </p:spPr>
        <p:txBody>
          <a:bodyPr/>
          <a:lstStyle>
            <a:lvl1pPr>
              <a:defRPr b="1">
                <a:solidFill>
                  <a:srgbClr val="FFFF00"/>
                </a:solidFill>
              </a:defRPr>
            </a:lvl1pPr>
          </a:lstStyle>
          <a:p>
            <a:fld id="{0F4794BE-3ABA-47D7-B493-F762948879A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794BE-3ABA-47D7-B493-F762948879A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794BE-3ABA-47D7-B493-F762948879A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794BE-3ABA-47D7-B493-F762948879A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794BE-3ABA-47D7-B493-F762948879A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794BE-3ABA-47D7-B493-F762948879A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794BE-3ABA-47D7-B493-F762948879A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794BE-3ABA-47D7-B493-F762948879A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794BE-3ABA-47D7-B493-F762948879A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794BE-3ABA-47D7-B493-F762948879A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8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8191500" y="6229350"/>
            <a:ext cx="95250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9200" y="6248400"/>
            <a:ext cx="1676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F4794BE-3ABA-47D7-B493-F762948879AE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0" y="-1"/>
            <a:ext cx="9144000" cy="152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0" y="6705599"/>
            <a:ext cx="9144000" cy="152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 rot="5400000" flipV="1">
            <a:off x="-3307080" y="3398520"/>
            <a:ext cx="676656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 rot="5400000" flipV="1">
            <a:off x="5684520" y="3307080"/>
            <a:ext cx="676656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15"/>
          <a:srcRect/>
          <a:stretch>
            <a:fillRect/>
          </a:stretch>
        </p:blipFill>
        <p:spPr bwMode="auto">
          <a:xfrm>
            <a:off x="228600" y="6248400"/>
            <a:ext cx="10382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lang="en-US" sz="4400" b="1" i="1" kern="1200" baseline="0" dirty="0" smtClean="0">
          <a:solidFill>
            <a:srgbClr val="FFFF99"/>
          </a:solidFill>
          <a:latin typeface="Comic Sans MS" pitchFamily="66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4000" kern="1200" baseline="0">
          <a:solidFill>
            <a:schemeClr val="bg1">
              <a:lumMod val="95000"/>
            </a:schemeClr>
          </a:solidFill>
          <a:latin typeface="Brush Script MT" pitchFamily="66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3600" kern="1200" baseline="0">
          <a:solidFill>
            <a:schemeClr val="bg1">
              <a:lumMod val="95000"/>
            </a:schemeClr>
          </a:solidFill>
          <a:latin typeface="Brush Script MT" pitchFamily="66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 baseline="0">
          <a:solidFill>
            <a:schemeClr val="bg1">
              <a:lumMod val="95000"/>
            </a:schemeClr>
          </a:solidFill>
          <a:latin typeface="Brush Script MT" pitchFamily="66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 baseline="0">
          <a:solidFill>
            <a:schemeClr val="bg1">
              <a:lumMod val="95000"/>
            </a:schemeClr>
          </a:solidFill>
          <a:latin typeface="Brush Script MT" pitchFamily="66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800" kern="1200" baseline="0">
          <a:solidFill>
            <a:schemeClr val="bg1">
              <a:lumMod val="95000"/>
            </a:schemeClr>
          </a:solidFill>
          <a:latin typeface="Brush Script MT" pitchFamily="66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1143000"/>
            <a:ext cx="8839200" cy="1470025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Lab 4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3200400"/>
            <a:ext cx="8839200" cy="17526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k8s Horizontal Pod Autoscaling (HPA)</a:t>
            </a:r>
          </a:p>
        </p:txBody>
      </p:sp>
    </p:spTree>
    <p:extLst>
      <p:ext uri="{BB962C8B-B14F-4D97-AF65-F5344CB8AC3E}">
        <p14:creationId xmlns:p14="http://schemas.microsoft.com/office/powerpoint/2010/main" val="3155294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19100"/>
            <a:ext cx="7772400" cy="838200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What is HPA?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1676400"/>
            <a:ext cx="8382000" cy="3733800"/>
          </a:xfrm>
        </p:spPr>
        <p:txBody>
          <a:bodyPr>
            <a:normAutofit fontScale="77500" lnSpcReduction="20000"/>
          </a:bodyPr>
          <a:lstStyle/>
          <a:p>
            <a:pPr algn="l"/>
            <a:endParaRPr lang="en-US" sz="2600" dirty="0">
              <a:solidFill>
                <a:srgbClr val="FFC000"/>
              </a:solidFill>
            </a:endParaRPr>
          </a:p>
          <a:p>
            <a:pPr algn="l"/>
            <a:r>
              <a:rPr lang="en-US" sz="2800" dirty="0">
                <a:solidFill>
                  <a:srgbClr val="FFC000"/>
                </a:solidFill>
              </a:rPr>
              <a:t>Before HPA, websites crashed under load  - you had to manually add servers</a:t>
            </a:r>
          </a:p>
          <a:p>
            <a:pPr algn="l"/>
            <a:endParaRPr lang="en-US" sz="2800" dirty="0">
              <a:solidFill>
                <a:srgbClr val="FFC000"/>
              </a:solidFill>
            </a:endParaRPr>
          </a:p>
          <a:p>
            <a:pPr algn="l"/>
            <a:r>
              <a:rPr lang="en-US" sz="2800" dirty="0">
                <a:solidFill>
                  <a:srgbClr val="FFC000"/>
                </a:solidFill>
              </a:rPr>
              <a:t>HPA acts like a smart store manager: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en-US" sz="2800" dirty="0">
                <a:solidFill>
                  <a:srgbClr val="FFC000"/>
                </a:solidFill>
              </a:rPr>
              <a:t>Monitors the app’s load (CPU/Memory)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en-US" sz="2800" dirty="0">
                <a:solidFill>
                  <a:srgbClr val="FFC000"/>
                </a:solidFill>
              </a:rPr>
              <a:t>Adds Pods when “busy”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en-US" sz="2800" dirty="0">
                <a:solidFill>
                  <a:srgbClr val="FFC000"/>
                </a:solidFill>
              </a:rPr>
              <a:t>Removes Pods when “idle”  </a:t>
            </a:r>
          </a:p>
          <a:p>
            <a:pPr algn="l"/>
            <a:br>
              <a:rPr lang="en-US" sz="2800" dirty="0">
                <a:solidFill>
                  <a:srgbClr val="FFC000"/>
                </a:solidFill>
              </a:rPr>
            </a:br>
            <a:r>
              <a:rPr lang="en-US" sz="2800" dirty="0">
                <a:solidFill>
                  <a:srgbClr val="FFC000"/>
                </a:solidFill>
              </a:rPr>
              <a:t>Goal: Match the number of Pods to the current traffic needs automatically</a:t>
            </a:r>
          </a:p>
          <a:p>
            <a:pPr algn="l"/>
            <a:endParaRPr lang="en-US" sz="2800" dirty="0">
              <a:solidFill>
                <a:srgbClr val="FFC000"/>
              </a:solidFill>
            </a:endParaRPr>
          </a:p>
          <a:p>
            <a:pPr algn="l"/>
            <a:endParaRPr lang="en-US" sz="2800" dirty="0">
              <a:solidFill>
                <a:srgbClr val="FFC000"/>
              </a:solidFill>
            </a:endParaRPr>
          </a:p>
          <a:p>
            <a:pPr algn="l"/>
            <a:endParaRPr lang="en-US" sz="2800" dirty="0">
              <a:solidFill>
                <a:srgbClr val="FFC000"/>
              </a:solidFill>
            </a:endParaRPr>
          </a:p>
          <a:p>
            <a:endParaRPr lang="en-US" sz="32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2673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457200"/>
            <a:ext cx="8839200" cy="762000"/>
          </a:xfrm>
        </p:spPr>
        <p:txBody>
          <a:bodyPr/>
          <a:lstStyle/>
          <a:p>
            <a:r>
              <a:rPr lang="en-US" sz="4000" dirty="0">
                <a:solidFill>
                  <a:srgbClr val="FFC000"/>
                </a:solidFill>
              </a:rPr>
              <a:t>The 3 components for our Demo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600200"/>
            <a:ext cx="7848600" cy="2057400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rgbClr val="FFC000"/>
              </a:solidFill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en-US" sz="2800" dirty="0">
                <a:solidFill>
                  <a:srgbClr val="FFC000"/>
                </a:solidFill>
              </a:rPr>
              <a:t>Metrics Server: Reports CPU/Memory for all pods.</a:t>
            </a:r>
          </a:p>
          <a:p>
            <a:pPr marL="514350" indent="-514350" algn="l">
              <a:buFont typeface="+mj-lt"/>
              <a:buAutoNum type="arabicPeriod"/>
            </a:pPr>
            <a:endParaRPr lang="en-US" sz="2800" dirty="0">
              <a:solidFill>
                <a:srgbClr val="FFC000"/>
              </a:solidFill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en-US" sz="2800" dirty="0">
                <a:solidFill>
                  <a:srgbClr val="FFC000"/>
                </a:solidFill>
              </a:rPr>
              <a:t>Deployment: Our application to scale</a:t>
            </a:r>
          </a:p>
          <a:p>
            <a:pPr marL="514350" indent="-514350" algn="l">
              <a:buFont typeface="+mj-lt"/>
              <a:buAutoNum type="arabicPeriod"/>
            </a:pPr>
            <a:endParaRPr lang="en-US" sz="2800" dirty="0">
              <a:solidFill>
                <a:srgbClr val="FFC000"/>
              </a:solidFill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en-US" sz="2800" dirty="0">
                <a:solidFill>
                  <a:srgbClr val="FFC000"/>
                </a:solidFill>
              </a:rPr>
              <a:t>HPA Object: Define the scaling rules (what to watch &amp; when to scale) </a:t>
            </a:r>
          </a:p>
          <a:p>
            <a:endParaRPr lang="en-US" sz="28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1171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826A27C-D3A2-6CF2-87C5-671631944B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4327" y="275241"/>
            <a:ext cx="7600146" cy="6308121"/>
          </a:xfrm>
          <a:prstGeom prst="rect">
            <a:avLst/>
          </a:prstGeom>
        </p:spPr>
      </p:pic>
      <p:sp>
        <p:nvSpPr>
          <p:cNvPr id="4" name="AutoShape 2" descr="hpa kubernetes working">
            <a:extLst>
              <a:ext uri="{FF2B5EF4-FFF2-40B4-BE49-F238E27FC236}">
                <a16:creationId xmlns:a16="http://schemas.microsoft.com/office/drawing/2014/main" id="{D6C67D2D-208B-F18D-468E-BF2BE0B03CB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95600" y="1752600"/>
            <a:ext cx="18288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5A4417-CBD1-2B45-647A-94B378AFC5A2}"/>
              </a:ext>
            </a:extLst>
          </p:cNvPr>
          <p:cNvSpPr txBox="1"/>
          <p:nvPr/>
        </p:nvSpPr>
        <p:spPr>
          <a:xfrm>
            <a:off x="6629400" y="1371600"/>
            <a:ext cx="12881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C0C0C0"/>
                </a:highlight>
              </a:rPr>
              <a:t>Metrics Server</a:t>
            </a:r>
          </a:p>
        </p:txBody>
      </p:sp>
    </p:spTree>
    <p:extLst>
      <p:ext uri="{BB962C8B-B14F-4D97-AF65-F5344CB8AC3E}">
        <p14:creationId xmlns:p14="http://schemas.microsoft.com/office/powerpoint/2010/main" val="2789242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61E1D-C868-D37D-5909-BEBD8E630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505C654-89E5-633C-33DE-752EC77E97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520" y="1013618"/>
            <a:ext cx="8364959" cy="4830763"/>
          </a:xfrm>
          <a:prstGeom prst="rect">
            <a:avLst/>
          </a:prstGeom>
          <a:noFill/>
        </p:spPr>
      </p:pic>
      <p:sp>
        <p:nvSpPr>
          <p:cNvPr id="4" name="AutoShape 2" descr="hpa kubernetes working">
            <a:extLst>
              <a:ext uri="{FF2B5EF4-FFF2-40B4-BE49-F238E27FC236}">
                <a16:creationId xmlns:a16="http://schemas.microsoft.com/office/drawing/2014/main" id="{688CC107-8E27-7CC0-FEC5-2B4D671CDD1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95600" y="1752600"/>
            <a:ext cx="18288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017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533400"/>
            <a:ext cx="8839200" cy="609600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Requests, Limits and Units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31AF64-48BB-17AE-E4A9-FCD5836BC0A2}"/>
              </a:ext>
            </a:extLst>
          </p:cNvPr>
          <p:cNvSpPr txBox="1"/>
          <p:nvPr/>
        </p:nvSpPr>
        <p:spPr>
          <a:xfrm>
            <a:off x="152400" y="1447800"/>
            <a:ext cx="88392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Requests: Guaranteed CPU for each pod (used by HPA math)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Limits: Max CPU or Memory resource allowed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en-US" sz="2400" dirty="0">
              <a:solidFill>
                <a:srgbClr val="FFC000"/>
              </a:solidFill>
              <a:latin typeface="Lucida Calligraphy" pitchFamily="66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>
                <a:solidFill>
                  <a:srgbClr val="FFC000"/>
                </a:solidFill>
                <a:latin typeface="Lucida Calligraphy" pitchFamily="66" charset="0"/>
              </a:rPr>
              <a:t>m : </a:t>
            </a:r>
            <a:r>
              <a:rPr lang="en-US" sz="2400" dirty="0" err="1">
                <a:solidFill>
                  <a:srgbClr val="FFC000"/>
                </a:solidFill>
                <a:latin typeface="Lucida Calligraphy" pitchFamily="66" charset="0"/>
              </a:rPr>
              <a:t>millicores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Lucida Calligraphy" pitchFamily="66" charset="0"/>
              <a:ea typeface="+mn-ea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Units: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• 1000m = 1 CPU core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• Pod requests: 200m (20%)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• HPA desired target: 50m (5%)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Lucida Calligraphy" pitchFamily="66" charset="0"/>
              <a:ea typeface="+mn-ea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Rule: If avg pod CPU util &gt; 50m → Scale up!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Lucida Calligraphy" pitchFamily="66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2157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16745-93DA-A7FD-281A-FD76DC7C4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4670B-DCCB-8870-D55B-D07C3F7D36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" y="457200"/>
            <a:ext cx="8839200" cy="609600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HPA Math: Scale-Up Formula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8910C1-343C-C3AF-2D8B-7F14C08D0B2B}"/>
              </a:ext>
            </a:extLst>
          </p:cNvPr>
          <p:cNvSpPr txBox="1"/>
          <p:nvPr/>
        </p:nvSpPr>
        <p:spPr>
          <a:xfrm>
            <a:off x="228600" y="1524000"/>
            <a:ext cx="8763000" cy="4819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desiredReplicas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 =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ceil(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currentMetric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 /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desiredMetric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 *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currentReplicas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 )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Lucida Calligraphy" pitchFamily="66" charset="0"/>
              <a:ea typeface="+mn-ea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Example: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currentMetric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=626m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desiredMetric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=50m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currentReplicas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=1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>
                <a:solidFill>
                  <a:srgbClr val="FFC000"/>
                </a:solidFill>
                <a:latin typeface="Lucida Calligraphy" pitchFamily="66" charset="0"/>
              </a:rPr>
              <a:t>                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=&gt; ceil(626/50*1)=13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Lucida Calligraphy" pitchFamily="66" charset="0"/>
              <a:ea typeface="+mn-ea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Capped to 10 if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maxReplicas</a:t>
            </a:r>
            <a:r>
              <a:rPr lang="en-US" sz="2400" dirty="0">
                <a:solidFill>
                  <a:srgbClr val="FFC000"/>
                </a:solidFill>
                <a:latin typeface="Lucida Calligraphy" pitchFamily="66" charset="0"/>
              </a:rPr>
              <a:t> is set to 10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Lucida Calligraphy" pitchFamily="66" charset="0"/>
              <a:ea typeface="+mn-ea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Lucida Calligraphy" pitchFamily="66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8188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381000"/>
            <a:ext cx="8839200" cy="1470025"/>
          </a:xfrm>
        </p:spPr>
        <p:txBody>
          <a:bodyPr/>
          <a:lstStyle/>
          <a:p>
            <a:r>
              <a:rPr lang="en-US" sz="4000" dirty="0">
                <a:solidFill>
                  <a:srgbClr val="FFC000"/>
                </a:solidFill>
              </a:rPr>
              <a:t>Demo 1a: Let's Scale with CPU!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2286000"/>
            <a:ext cx="8839200" cy="3733800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en-US" sz="3200" dirty="0">
                <a:solidFill>
                  <a:srgbClr val="FFC000"/>
                </a:solidFill>
              </a:rPr>
              <a:t>🎯 Goal: Watch the HPA react to a massive CPU spike.</a:t>
            </a:r>
          </a:p>
          <a:p>
            <a:pPr algn="l"/>
            <a:endParaRPr lang="en-US" sz="3200" dirty="0">
              <a:solidFill>
                <a:srgbClr val="FFC000"/>
              </a:solidFill>
            </a:endParaRPr>
          </a:p>
          <a:p>
            <a:pPr algn="l"/>
            <a:r>
              <a:rPr lang="en-US" sz="3200" dirty="0">
                <a:solidFill>
                  <a:srgbClr val="FFC000"/>
                </a:solidFill>
              </a:rPr>
              <a:t>Steps:</a:t>
            </a:r>
          </a:p>
          <a:p>
            <a:pPr algn="l"/>
            <a:r>
              <a:rPr lang="en-US" sz="3200" dirty="0">
                <a:solidFill>
                  <a:srgbClr val="FFC000"/>
                </a:solidFill>
              </a:rPr>
              <a:t>• Navigate to Demo1/CPU</a:t>
            </a:r>
          </a:p>
          <a:p>
            <a:pPr algn="l"/>
            <a:r>
              <a:rPr lang="en-US" sz="3200" dirty="0">
                <a:solidFill>
                  <a:srgbClr val="FFC000"/>
                </a:solidFill>
              </a:rPr>
              <a:t>• Build App: docker build -t </a:t>
            </a:r>
            <a:r>
              <a:rPr lang="en-US" sz="3200" dirty="0" err="1">
                <a:solidFill>
                  <a:srgbClr val="FFC000"/>
                </a:solidFill>
              </a:rPr>
              <a:t>php-apache-cpu</a:t>
            </a:r>
            <a:r>
              <a:rPr lang="en-US" sz="3200" dirty="0">
                <a:solidFill>
                  <a:srgbClr val="FFC000"/>
                </a:solidFill>
              </a:rPr>
              <a:t> </a:t>
            </a:r>
          </a:p>
          <a:p>
            <a:pPr algn="l"/>
            <a:r>
              <a:rPr lang="en-US" sz="3200" dirty="0">
                <a:solidFill>
                  <a:srgbClr val="FFC000"/>
                </a:solidFill>
              </a:rPr>
              <a:t>• Deploy: </a:t>
            </a:r>
            <a:r>
              <a:rPr lang="en-US" sz="3200" dirty="0" err="1">
                <a:solidFill>
                  <a:srgbClr val="FFC000"/>
                </a:solidFill>
              </a:rPr>
              <a:t>kubectl</a:t>
            </a:r>
            <a:r>
              <a:rPr lang="en-US" sz="3200" dirty="0">
                <a:solidFill>
                  <a:srgbClr val="FFC000"/>
                </a:solidFill>
              </a:rPr>
              <a:t> apply -f </a:t>
            </a:r>
            <a:r>
              <a:rPr lang="en-US" sz="3200" dirty="0" err="1">
                <a:solidFill>
                  <a:srgbClr val="FFC000"/>
                </a:solidFill>
              </a:rPr>
              <a:t>php-deployment.yaml</a:t>
            </a:r>
            <a:endParaRPr lang="en-US" sz="3200" dirty="0">
              <a:solidFill>
                <a:srgbClr val="FFC000"/>
              </a:solidFill>
            </a:endParaRPr>
          </a:p>
          <a:p>
            <a:pPr algn="l"/>
            <a:r>
              <a:rPr lang="en-US" sz="3200" dirty="0">
                <a:solidFill>
                  <a:srgbClr val="FFC000"/>
                </a:solidFill>
              </a:rPr>
              <a:t>• Create HPA: </a:t>
            </a:r>
            <a:r>
              <a:rPr lang="en-US" sz="3200" dirty="0" err="1">
                <a:solidFill>
                  <a:srgbClr val="FFC000"/>
                </a:solidFill>
              </a:rPr>
              <a:t>kubectl</a:t>
            </a:r>
            <a:r>
              <a:rPr lang="en-US" sz="3200" dirty="0">
                <a:solidFill>
                  <a:srgbClr val="FFC000"/>
                </a:solidFill>
              </a:rPr>
              <a:t> create -f </a:t>
            </a:r>
            <a:r>
              <a:rPr lang="en-US" sz="3200" dirty="0" err="1">
                <a:solidFill>
                  <a:srgbClr val="FFC000"/>
                </a:solidFill>
              </a:rPr>
              <a:t>DeployCPU.yaml</a:t>
            </a:r>
            <a:endParaRPr lang="en-US" sz="3200" dirty="0">
              <a:solidFill>
                <a:srgbClr val="FFC000"/>
              </a:solidFill>
            </a:endParaRPr>
          </a:p>
          <a:p>
            <a:pPr algn="l"/>
            <a:r>
              <a:rPr lang="en-US" sz="3200" dirty="0">
                <a:solidFill>
                  <a:srgbClr val="FFC000"/>
                </a:solidFill>
              </a:rPr>
              <a:t>• Watch outputs: </a:t>
            </a:r>
            <a:r>
              <a:rPr lang="en-US" sz="3200" dirty="0" err="1">
                <a:solidFill>
                  <a:srgbClr val="FFC000"/>
                </a:solidFill>
              </a:rPr>
              <a:t>kubectl</a:t>
            </a:r>
            <a:r>
              <a:rPr lang="en-US" sz="3200" dirty="0">
                <a:solidFill>
                  <a:srgbClr val="FFC000"/>
                </a:solidFill>
              </a:rPr>
              <a:t> get </a:t>
            </a:r>
            <a:r>
              <a:rPr lang="en-US" sz="3200" dirty="0" err="1">
                <a:solidFill>
                  <a:srgbClr val="FFC000"/>
                </a:solidFill>
              </a:rPr>
              <a:t>hpa</a:t>
            </a:r>
            <a:r>
              <a:rPr lang="en-US" sz="3200" dirty="0">
                <a:solidFill>
                  <a:srgbClr val="FFC000"/>
                </a:solidFill>
              </a:rPr>
              <a:t> -w</a:t>
            </a:r>
          </a:p>
          <a:p>
            <a:pPr algn="l"/>
            <a:r>
              <a:rPr lang="en-US" sz="3200" dirty="0">
                <a:solidFill>
                  <a:srgbClr val="FFC000"/>
                </a:solidFill>
              </a:rPr>
              <a:t>• Run Load Generator</a:t>
            </a:r>
          </a:p>
          <a:p>
            <a:pPr algn="l"/>
            <a:endParaRPr lang="en-US" sz="3200" dirty="0">
              <a:solidFill>
                <a:srgbClr val="FFC000"/>
              </a:solidFill>
            </a:endParaRPr>
          </a:p>
          <a:p>
            <a:pPr algn="l"/>
            <a:r>
              <a:rPr lang="en-US" sz="3200" dirty="0">
                <a:solidFill>
                  <a:srgbClr val="FFC000"/>
                </a:solidFill>
              </a:rPr>
              <a:t>Observe HPA scaling up automatically.</a:t>
            </a:r>
          </a:p>
          <a:p>
            <a:pPr algn="l"/>
            <a:endParaRPr lang="en-US" sz="32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6826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D5E9E-5960-25FC-71EB-215CA7074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D1160-F845-A7F7-1803-53A46B1E28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" y="381000"/>
            <a:ext cx="8839200" cy="1470025"/>
          </a:xfrm>
        </p:spPr>
        <p:txBody>
          <a:bodyPr/>
          <a:lstStyle/>
          <a:p>
            <a:r>
              <a:rPr lang="en-US" sz="4000" dirty="0">
                <a:solidFill>
                  <a:srgbClr val="FFC000"/>
                </a:solidFill>
              </a:rPr>
              <a:t>Demo 1a: the </a:t>
            </a:r>
            <a:r>
              <a:rPr lang="en-US" sz="4000" dirty="0" err="1">
                <a:solidFill>
                  <a:srgbClr val="FFC000"/>
                </a:solidFill>
              </a:rPr>
              <a:t>php-apache</a:t>
            </a:r>
            <a:r>
              <a:rPr lang="en-US" sz="4000" dirty="0">
                <a:solidFill>
                  <a:srgbClr val="FFC000"/>
                </a:solidFill>
              </a:rPr>
              <a:t> app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E28848-218B-0A20-4DB4-CED3E3B7CC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" y="2286000"/>
            <a:ext cx="8839200" cy="3733800"/>
          </a:xfrm>
        </p:spPr>
        <p:txBody>
          <a:bodyPr>
            <a:normAutofit/>
          </a:bodyPr>
          <a:lstStyle/>
          <a:p>
            <a:pPr algn="l"/>
            <a:r>
              <a:rPr lang="en-US" sz="3200" dirty="0">
                <a:solidFill>
                  <a:srgbClr val="FFC000"/>
                </a:solidFill>
              </a:rPr>
              <a:t> </a:t>
            </a:r>
            <a:r>
              <a:rPr lang="en-US" sz="3200" dirty="0">
                <a:solidFill>
                  <a:srgbClr val="FF0000"/>
                </a:solidFill>
              </a:rPr>
              <a:t>David, describe the app briefly, show the contents of </a:t>
            </a:r>
            <a:r>
              <a:rPr lang="en-US" sz="3200" dirty="0" err="1">
                <a:solidFill>
                  <a:srgbClr val="FFC000"/>
                </a:solidFill>
              </a:rPr>
              <a:t>php-apache-cpu</a:t>
            </a:r>
            <a:r>
              <a:rPr lang="en-US" sz="3200" dirty="0">
                <a:solidFill>
                  <a:srgbClr val="FFC000"/>
                </a:solidFill>
              </a:rPr>
              <a:t>, </a:t>
            </a:r>
            <a:r>
              <a:rPr lang="en-US" sz="3200" dirty="0" err="1">
                <a:solidFill>
                  <a:srgbClr val="FFC000"/>
                </a:solidFill>
              </a:rPr>
              <a:t>php-deployment.yaml</a:t>
            </a:r>
            <a:r>
              <a:rPr lang="en-US" sz="3200" dirty="0">
                <a:solidFill>
                  <a:srgbClr val="FFC000"/>
                </a:solidFill>
              </a:rPr>
              <a:t> and </a:t>
            </a:r>
            <a:r>
              <a:rPr lang="en-US" sz="3200" dirty="0" err="1">
                <a:solidFill>
                  <a:srgbClr val="FFC000"/>
                </a:solidFill>
              </a:rPr>
              <a:t>DeployCPU.yaml</a:t>
            </a:r>
            <a:endParaRPr lang="en-US" sz="3200" dirty="0">
              <a:solidFill>
                <a:srgbClr val="FFC000"/>
              </a:solidFill>
            </a:endParaRPr>
          </a:p>
          <a:p>
            <a:pPr algn="l"/>
            <a:endParaRPr lang="en-US" sz="3200" dirty="0">
              <a:solidFill>
                <a:srgbClr val="FF0000"/>
              </a:solidFill>
            </a:endParaRPr>
          </a:p>
          <a:p>
            <a:pPr algn="l"/>
            <a:endParaRPr lang="en-US" sz="32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8481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6EF61-3E3B-BF82-9808-1BB2AD8B2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7D0CB-EC60-BB38-1D41-8C04D1A585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" y="381000"/>
            <a:ext cx="8839200" cy="1470025"/>
          </a:xfrm>
        </p:spPr>
        <p:txBody>
          <a:bodyPr/>
          <a:lstStyle/>
          <a:p>
            <a:r>
              <a:rPr lang="en-US" sz="4000" dirty="0">
                <a:solidFill>
                  <a:srgbClr val="FFC000"/>
                </a:solidFill>
              </a:rPr>
              <a:t>Demo 1a: traffic generation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90BA19-151D-1D2B-D751-B503EBEA40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" y="2286000"/>
            <a:ext cx="8839200" cy="3733800"/>
          </a:xfrm>
        </p:spPr>
        <p:txBody>
          <a:bodyPr>
            <a:normAutofit/>
          </a:bodyPr>
          <a:lstStyle/>
          <a:p>
            <a:pPr algn="l"/>
            <a:r>
              <a:rPr lang="en-US" sz="3200" dirty="0">
                <a:solidFill>
                  <a:srgbClr val="FFC000"/>
                </a:solidFill>
              </a:rPr>
              <a:t> </a:t>
            </a:r>
            <a:r>
              <a:rPr lang="en-US" sz="3200" dirty="0">
                <a:solidFill>
                  <a:srgbClr val="FF0000"/>
                </a:solidFill>
              </a:rPr>
              <a:t>David, </a:t>
            </a:r>
          </a:p>
          <a:p>
            <a:pPr algn="l"/>
            <a:r>
              <a:rPr lang="en-US" sz="3200" dirty="0">
                <a:solidFill>
                  <a:srgbClr val="FF0000"/>
                </a:solidFill>
              </a:rPr>
              <a:t>show the file content</a:t>
            </a:r>
          </a:p>
          <a:p>
            <a:pPr algn="l"/>
            <a:r>
              <a:rPr lang="en-US" sz="3200" dirty="0">
                <a:solidFill>
                  <a:srgbClr val="FF0000"/>
                </a:solidFill>
              </a:rPr>
              <a:t>describe the locust app (bursts, etc.)</a:t>
            </a:r>
            <a:endParaRPr lang="en-US" sz="32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265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04A6F-BC60-F9BE-85EB-8F3C29F15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ABCF6-FB8F-331A-4A66-F9C5869E06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" y="457200"/>
            <a:ext cx="8839200" cy="609600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Demo 1a Output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C8C103-32D3-273F-4960-5AD34A7460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752600"/>
            <a:ext cx="8686800" cy="20314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5376DCB-C909-AD2E-B4C3-11EAD260AA75}"/>
              </a:ext>
            </a:extLst>
          </p:cNvPr>
          <p:cNvSpPr txBox="1"/>
          <p:nvPr/>
        </p:nvSpPr>
        <p:spPr>
          <a:xfrm>
            <a:off x="152400" y="4343400"/>
            <a:ext cx="88392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Observed  3 scale up actions, </a:t>
            </a:r>
            <a:r>
              <a:rPr lang="en-US" dirty="0">
                <a:solidFill>
                  <a:srgbClr val="FFC000"/>
                </a:solidFill>
                <a:latin typeface="Lucida Calligraphy" pitchFamily="66" charset="0"/>
              </a:rPr>
              <a:t>at minutes 3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, 4, 5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>
                <a:solidFill>
                  <a:srgbClr val="FFC000"/>
                </a:solidFill>
                <a:latin typeface="Lucida Calligraphy" pitchFamily="66" charset="0"/>
              </a:rPr>
              <a:t>Observed 1 scale down action at minute 10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Lucida Calligraphy" pitchFamily="66" charset="0"/>
              <a:ea typeface="+mn-ea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>
                <a:solidFill>
                  <a:srgbClr val="FFC000"/>
                </a:solidFill>
                <a:latin typeface="Lucida Calligraphy" pitchFamily="66" charset="0"/>
              </a:rPr>
              <a:t>Is this behavior consistent/can it be explained by the HPA formula?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Lucida Calligraphy" pitchFamily="66" charset="0"/>
              <a:ea typeface="+mn-ea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Lucida Calligraphy" pitchFamily="66" charset="0"/>
              <a:ea typeface="+mn-ea"/>
              <a:cs typeface="+mn-cs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B1C2BF4-D584-7CBB-EE01-7288D32F843D}"/>
              </a:ext>
            </a:extLst>
          </p:cNvPr>
          <p:cNvCxnSpPr>
            <a:cxnSpLocks/>
          </p:cNvCxnSpPr>
          <p:nvPr/>
        </p:nvCxnSpPr>
        <p:spPr>
          <a:xfrm flipH="1">
            <a:off x="6629400" y="2057400"/>
            <a:ext cx="228600" cy="60960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350644C-4E24-7977-6BD6-112CD3BDDBB9}"/>
              </a:ext>
            </a:extLst>
          </p:cNvPr>
          <p:cNvCxnSpPr>
            <a:cxnSpLocks/>
          </p:cNvCxnSpPr>
          <p:nvPr/>
        </p:nvCxnSpPr>
        <p:spPr>
          <a:xfrm flipH="1" flipV="1">
            <a:off x="6705600" y="3384174"/>
            <a:ext cx="1371600" cy="80138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9BB194C-AD7D-5429-9EED-7F669B016A05}"/>
              </a:ext>
            </a:extLst>
          </p:cNvPr>
          <p:cNvCxnSpPr>
            <a:cxnSpLocks/>
          </p:cNvCxnSpPr>
          <p:nvPr/>
        </p:nvCxnSpPr>
        <p:spPr>
          <a:xfrm flipH="1">
            <a:off x="6620256" y="2255520"/>
            <a:ext cx="466344" cy="58761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435BD76-252E-B394-B04C-61ADF18E7B4F}"/>
              </a:ext>
            </a:extLst>
          </p:cNvPr>
          <p:cNvCxnSpPr>
            <a:cxnSpLocks/>
          </p:cNvCxnSpPr>
          <p:nvPr/>
        </p:nvCxnSpPr>
        <p:spPr>
          <a:xfrm flipH="1">
            <a:off x="6687312" y="2255520"/>
            <a:ext cx="533400" cy="75383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2321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82DAD-B6C9-5001-13FF-96D5A40B2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9545C-D6C2-05FC-EDAE-F0A651B4A1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" y="457200"/>
            <a:ext cx="8839200" cy="609600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Demo 1a Output (Analysis)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57829D-F0FC-716A-09A5-44F3BB6A8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752600"/>
            <a:ext cx="8686800" cy="20314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B63CEC9-BD85-A148-4BF4-FC44621CA914}"/>
              </a:ext>
            </a:extLst>
          </p:cNvPr>
          <p:cNvSpPr txBox="1"/>
          <p:nvPr/>
        </p:nvSpPr>
        <p:spPr>
          <a:xfrm>
            <a:off x="152400" y="4343400"/>
            <a:ext cx="8458200" cy="26961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K8s has additional objectives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besides autoscaling: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Lucida Calligraphy" pitchFamily="66" charset="0"/>
              <a:ea typeface="+mn-ea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Lucida Calligraphy" pitchFamily="66" charset="0"/>
              <a:ea typeface="+mn-ea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1) Don’t scale abruptly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   (Default 5-min window)</a:t>
            </a:r>
          </a:p>
          <a:p>
            <a:pPr lvl="0">
              <a:spcBef>
                <a:spcPct val="20000"/>
              </a:spcBef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Lucida Calligraphy" pitchFamily="66" charset="0"/>
              <a:ea typeface="+mn-ea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Lucida Calligraphy" pitchFamily="66" charset="0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17FF682-F880-21F5-5E37-76E7A471B36C}"/>
              </a:ext>
            </a:extLst>
          </p:cNvPr>
          <p:cNvSpPr/>
          <p:nvPr/>
        </p:nvSpPr>
        <p:spPr>
          <a:xfrm>
            <a:off x="7086600" y="2438400"/>
            <a:ext cx="762000" cy="4572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89935D0-266C-8822-E0B9-437A6BCDB6E5}"/>
              </a:ext>
            </a:extLst>
          </p:cNvPr>
          <p:cNvSpPr/>
          <p:nvPr/>
        </p:nvSpPr>
        <p:spPr>
          <a:xfrm>
            <a:off x="3733800" y="2286000"/>
            <a:ext cx="1143000" cy="762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136E391-8306-FF40-5D14-885E6CB80AAD}"/>
              </a:ext>
            </a:extLst>
          </p:cNvPr>
          <p:cNvSpPr/>
          <p:nvPr/>
        </p:nvSpPr>
        <p:spPr>
          <a:xfrm>
            <a:off x="6134100" y="2438400"/>
            <a:ext cx="762000" cy="533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3326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54C56-1E20-B73B-6C6D-B04D0C08F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385B9-F820-C923-7459-0396961A21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" y="457200"/>
            <a:ext cx="8839200" cy="609600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Demo 1a Output (Analysis)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6F8F72-1D44-AE3D-8193-A24FE1539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752600"/>
            <a:ext cx="8686800" cy="20314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B1546A9-49E9-C51A-562E-7E160F856C1A}"/>
              </a:ext>
            </a:extLst>
          </p:cNvPr>
          <p:cNvSpPr txBox="1"/>
          <p:nvPr/>
        </p:nvSpPr>
        <p:spPr>
          <a:xfrm>
            <a:off x="152400" y="4191000"/>
            <a:ext cx="7924800" cy="2363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K8s has additional objectives besides autoscaling:</a:t>
            </a:r>
          </a:p>
          <a:p>
            <a:pPr lvl="0">
              <a:spcBef>
                <a:spcPct val="20000"/>
              </a:spcBef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Lucida Calligraphy" pitchFamily="66" charset="0"/>
              <a:ea typeface="+mn-ea"/>
              <a:cs typeface="+mn-cs"/>
            </a:endParaRPr>
          </a:p>
          <a:p>
            <a:pPr lvl="0">
              <a:spcBef>
                <a:spcPct val="20000"/>
              </a:spcBef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2) Prevent flapping during transient dips</a:t>
            </a:r>
            <a:r>
              <a:rPr lang="en-US" dirty="0">
                <a:solidFill>
                  <a:srgbClr val="FFC000"/>
                </a:solidFill>
                <a:latin typeface="Lucida Calligraphy" pitchFamily="66" charset="0"/>
              </a:rPr>
              <a:t> </a:t>
            </a:r>
          </a:p>
          <a:p>
            <a:pPr lvl="0">
              <a:spcBef>
                <a:spcPct val="20000"/>
              </a:spcBef>
              <a:defRPr/>
            </a:pPr>
            <a:r>
              <a:rPr lang="en-US" dirty="0">
                <a:solidFill>
                  <a:srgbClr val="FFC000"/>
                </a:solidFill>
                <a:latin typeface="Lucida Calligraphy" pitchFamily="66" charset="0"/>
              </a:rPr>
              <a:t>    (Default 5-min window)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Lucida Calligraphy" pitchFamily="66" charset="0"/>
              <a:ea typeface="+mn-ea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Lucida Calligraphy" pitchFamily="66" charset="0"/>
              <a:ea typeface="+mn-ea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After 5 minutes of low load → returns to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minReplicas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.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Lucida Calligraphy" pitchFamily="66" charset="0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DFFE887-FE0A-EF4D-31BD-96AB8F933EE7}"/>
              </a:ext>
            </a:extLst>
          </p:cNvPr>
          <p:cNvSpPr/>
          <p:nvPr/>
        </p:nvSpPr>
        <p:spPr>
          <a:xfrm>
            <a:off x="3733800" y="3048000"/>
            <a:ext cx="990600" cy="609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0AC8595-30A0-3120-8353-57DD282C5C67}"/>
              </a:ext>
            </a:extLst>
          </p:cNvPr>
          <p:cNvSpPr/>
          <p:nvPr/>
        </p:nvSpPr>
        <p:spPr>
          <a:xfrm>
            <a:off x="6934200" y="3054846"/>
            <a:ext cx="990600" cy="609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96542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89664-C4C3-B7A6-185D-B7430A5D6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E0B4F-981F-5DD0-AF1E-1CADBCA670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685800"/>
            <a:ext cx="8839200" cy="609600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Demo 1b: Autoscaling Memory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DEF61A-1391-04BA-F9D7-1DA95BC74EB9}"/>
              </a:ext>
            </a:extLst>
          </p:cNvPr>
          <p:cNvSpPr txBox="1"/>
          <p:nvPr/>
        </p:nvSpPr>
        <p:spPr>
          <a:xfrm>
            <a:off x="457200" y="1981200"/>
            <a:ext cx="82296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🎯 Goal: Watch HPA react to memory load.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Lucida Calligraphy" pitchFamily="66" charset="0"/>
              <a:ea typeface="+mn-ea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Steps: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• Navigate to Demo1/Memory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• Build: docker build -t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php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-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apache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-mem .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• Deploy and create HPA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• Watch scaling with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kubectl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 get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hpa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 -w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• Run memory load generator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Lucida Calligraphy" pitchFamily="66" charset="0"/>
              <a:ea typeface="+mn-ea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Observation: Won’t scale down due to memory leak — HPA sees high usage.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Lucida Calligraphy" pitchFamily="66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06595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F1D0F-3E15-35AB-36A4-4C6C0550C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50E34-B4FF-2BE4-2156-BF85227838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685800"/>
            <a:ext cx="8839200" cy="609600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Units for Memory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71C164-7DFC-B32B-8FE1-5F851AD15274}"/>
              </a:ext>
            </a:extLst>
          </p:cNvPr>
          <p:cNvSpPr txBox="1"/>
          <p:nvPr/>
        </p:nvSpPr>
        <p:spPr>
          <a:xfrm>
            <a:off x="457200" y="1981200"/>
            <a:ext cx="82296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US" sz="2000" dirty="0">
                <a:solidFill>
                  <a:srgbClr val="FFC000"/>
                </a:solidFill>
                <a:latin typeface="Lucida Calligraphy" pitchFamily="66" charset="0"/>
              </a:rPr>
              <a:t>Units:</a:t>
            </a:r>
          </a:p>
          <a:p>
            <a:pPr lvl="0">
              <a:spcBef>
                <a:spcPct val="20000"/>
              </a:spcBef>
              <a:defRPr/>
            </a:pPr>
            <a:r>
              <a:rPr lang="en-US" sz="2000" dirty="0">
                <a:solidFill>
                  <a:srgbClr val="FFC000"/>
                </a:solidFill>
                <a:latin typeface="Lucida Calligraphy" pitchFamily="66" charset="0"/>
              </a:rPr>
              <a:t>• Mi = Mebibyte (the 1024-based “computer” megabyte)</a:t>
            </a:r>
          </a:p>
          <a:p>
            <a:pPr lvl="0">
              <a:spcBef>
                <a:spcPct val="20000"/>
              </a:spcBef>
              <a:defRPr/>
            </a:pPr>
            <a:r>
              <a:rPr lang="en-US" sz="2000" dirty="0">
                <a:solidFill>
                  <a:srgbClr val="FFC000"/>
                </a:solidFill>
                <a:latin typeface="Lucida Calligraphy" pitchFamily="66" charset="0"/>
              </a:rPr>
              <a:t>• Gi = Gibibyte (the 1024-based “computer” gigabyte)</a:t>
            </a:r>
          </a:p>
          <a:p>
            <a:pPr lvl="0">
              <a:spcBef>
                <a:spcPct val="20000"/>
              </a:spcBef>
              <a:defRPr/>
            </a:pPr>
            <a:endParaRPr lang="en-US" sz="2000" dirty="0">
              <a:solidFill>
                <a:srgbClr val="FFC000"/>
              </a:solidFill>
              <a:latin typeface="Lucida Calligraphy" pitchFamily="66" charset="0"/>
            </a:endParaRPr>
          </a:p>
          <a:p>
            <a:pPr lvl="0">
              <a:spcBef>
                <a:spcPct val="20000"/>
              </a:spcBef>
              <a:defRPr/>
            </a:pPr>
            <a:r>
              <a:rPr lang="en-US" sz="2000" dirty="0">
                <a:solidFill>
                  <a:srgbClr val="FFC000"/>
                </a:solidFill>
                <a:latin typeface="Lucida Calligraphy" pitchFamily="66" charset="0"/>
              </a:rPr>
              <a:t>Mebibyte != Megabyte</a:t>
            </a:r>
          </a:p>
          <a:p>
            <a:pPr lvl="0">
              <a:spcBef>
                <a:spcPct val="20000"/>
              </a:spcBef>
              <a:defRPr/>
            </a:pPr>
            <a:endParaRPr lang="en-US" sz="2000" dirty="0">
              <a:solidFill>
                <a:srgbClr val="FFC000"/>
              </a:solidFill>
              <a:latin typeface="Lucida Calligraphy" pitchFamily="66" charset="0"/>
            </a:endParaRPr>
          </a:p>
          <a:p>
            <a:pPr lvl="0">
              <a:spcBef>
                <a:spcPct val="20000"/>
              </a:spcBef>
              <a:defRPr/>
            </a:pPr>
            <a:r>
              <a:rPr lang="en-US" sz="2000" dirty="0">
                <a:solidFill>
                  <a:srgbClr val="FFC000"/>
                </a:solidFill>
                <a:latin typeface="Lucida Calligraphy" pitchFamily="66" charset="0"/>
              </a:rPr>
              <a:t>Mi = Mebibyte = 2^20 bytes = 1048576 bytes</a:t>
            </a:r>
            <a:br>
              <a:rPr lang="en-US" sz="2000" dirty="0">
                <a:solidFill>
                  <a:srgbClr val="FFC000"/>
                </a:solidFill>
                <a:latin typeface="Lucida Calligraphy" pitchFamily="66" charset="0"/>
              </a:rPr>
            </a:br>
            <a:r>
              <a:rPr lang="en-US" sz="2000" dirty="0">
                <a:solidFill>
                  <a:srgbClr val="FFC000"/>
                </a:solidFill>
                <a:latin typeface="Lucida Calligraphy" pitchFamily="66" charset="0"/>
              </a:rPr>
              <a:t>M = Megabyte = 10^6 bytes = 1000000 bytes</a:t>
            </a:r>
          </a:p>
          <a:p>
            <a:pPr lvl="0">
              <a:spcBef>
                <a:spcPct val="20000"/>
              </a:spcBef>
              <a:defRPr/>
            </a:pPr>
            <a:endParaRPr lang="en-US" sz="2000" dirty="0">
              <a:solidFill>
                <a:srgbClr val="FFC000"/>
              </a:solidFill>
              <a:latin typeface="Lucida Calligraphy" pitchFamily="66" charset="0"/>
            </a:endParaRPr>
          </a:p>
          <a:p>
            <a:pPr lvl="0">
              <a:spcBef>
                <a:spcPct val="20000"/>
              </a:spcBef>
              <a:defRPr/>
            </a:pPr>
            <a:r>
              <a:rPr lang="en-US" sz="2000" dirty="0">
                <a:solidFill>
                  <a:srgbClr val="FFC000"/>
                </a:solidFill>
                <a:latin typeface="Lucida Calligraphy" pitchFamily="66" charset="0"/>
              </a:rPr>
              <a:t>Rule: If avg pod Memory &gt; 25Mi → Scale up!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Lucida Calligraphy" pitchFamily="66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89156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F450A-8C3C-C0C2-A86B-C3A0A9CE3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C4841-0F7E-696E-CFB2-3D37E098D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" y="457200"/>
            <a:ext cx="8839200" cy="609600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Demo 1b Output (Analysis)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0AD044-D688-CE2D-7BF6-0187C90662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039609"/>
            <a:ext cx="8610600" cy="2778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135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381000"/>
            <a:ext cx="8839200" cy="609600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Key Takeaways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3F394A3-DBB6-E574-7C56-4CDBEFEA1E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8445" y="1447800"/>
            <a:ext cx="8839200" cy="3733800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2400" dirty="0">
                <a:solidFill>
                  <a:srgbClr val="FFC000"/>
                </a:solidFill>
              </a:rPr>
              <a:t>✅ HPA auto-scales Pods based on metrics</a:t>
            </a:r>
          </a:p>
          <a:p>
            <a:pPr algn="l"/>
            <a:r>
              <a:rPr lang="en-US" sz="2400" dirty="0">
                <a:solidFill>
                  <a:srgbClr val="FFC000"/>
                </a:solidFill>
              </a:rPr>
              <a:t>✅ Needs Metrics Server</a:t>
            </a:r>
          </a:p>
          <a:p>
            <a:pPr algn="l"/>
            <a:r>
              <a:rPr lang="en-US" sz="2400" dirty="0">
                <a:solidFill>
                  <a:srgbClr val="FFC000"/>
                </a:solidFill>
              </a:rPr>
              <a:t>✅ Define rules via YAML</a:t>
            </a:r>
          </a:p>
          <a:p>
            <a:pPr algn="l"/>
            <a:r>
              <a:rPr lang="en-US" sz="2400" dirty="0">
                <a:solidFill>
                  <a:srgbClr val="FFC000"/>
                </a:solidFill>
              </a:rPr>
              <a:t>✅ Safety:</a:t>
            </a:r>
          </a:p>
          <a:p>
            <a:pPr algn="l"/>
            <a:r>
              <a:rPr lang="en-US" sz="2400" dirty="0">
                <a:solidFill>
                  <a:srgbClr val="FFC000"/>
                </a:solidFill>
              </a:rPr>
              <a:t>	• Scale-Up Velocity: Controlled growth</a:t>
            </a:r>
          </a:p>
          <a:p>
            <a:pPr algn="l"/>
            <a:r>
              <a:rPr lang="en-US" sz="2400" dirty="0">
                <a:solidFill>
                  <a:srgbClr val="FFC000"/>
                </a:solidFill>
              </a:rPr>
              <a:t>	• Scale-Down Cooldown: Prevents flapping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C000"/>
              </a:solidFill>
            </a:endParaRPr>
          </a:p>
          <a:p>
            <a:pPr algn="l"/>
            <a:r>
              <a:rPr lang="en-US" sz="2400" dirty="0">
                <a:solidFill>
                  <a:srgbClr val="FFC000"/>
                </a:solidFill>
              </a:rPr>
              <a:t>HPA isn’t magic—it simply follows the metrics and rules you define.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35801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839200" cy="857400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dirty="0">
                <a:solidFill>
                  <a:srgbClr val="FFC000"/>
                </a:solidFill>
              </a:rPr>
              <a:t>Questions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2" name="Google Shape;141;p26">
            <a:extLst>
              <a:ext uri="{FF2B5EF4-FFF2-40B4-BE49-F238E27FC236}">
                <a16:creationId xmlns:a16="http://schemas.microsoft.com/office/drawing/2014/main" id="{52BF992E-E5C8-9510-24C4-B3E54A764FA0}"/>
              </a:ext>
            </a:extLst>
          </p:cNvPr>
          <p:cNvSpPr txBox="1">
            <a:spLocks/>
          </p:cNvSpPr>
          <p:nvPr/>
        </p:nvSpPr>
        <p:spPr>
          <a:xfrm>
            <a:off x="152400" y="4267200"/>
            <a:ext cx="8839200" cy="857400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4400" b="1" i="1" kern="1200" baseline="0" dirty="0" smtClean="0">
                <a:solidFill>
                  <a:srgbClr val="FFFF99"/>
                </a:solidFill>
                <a:latin typeface="Comic Sans MS" pitchFamily="66" charset="0"/>
                <a:ea typeface="+mj-ea"/>
                <a:cs typeface="+mj-cs"/>
              </a:defRPr>
            </a:lvl1pPr>
          </a:lstStyle>
          <a:p>
            <a:pPr marL="571500" indent="-571500" algn="l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C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CA9075-A355-0C2A-C494-E7288FA6494B}"/>
              </a:ext>
            </a:extLst>
          </p:cNvPr>
          <p:cNvSpPr txBox="1"/>
          <p:nvPr/>
        </p:nvSpPr>
        <p:spPr>
          <a:xfrm>
            <a:off x="762000" y="1828800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Github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 </a:t>
            </a:r>
            <a:r>
              <a:rPr lang="en-US" sz="2400" dirty="0">
                <a:solidFill>
                  <a:srgbClr val="FFC000"/>
                </a:solidFill>
                <a:latin typeface="Lucida Calligraphy" pitchFamily="66" charset="0"/>
              </a:rPr>
              <a:t>- https://github.ncsu.edu/CSC-574/Lab-4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Lucida Calligraphy" pitchFamily="66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676037-C89B-92F1-1FBC-DB366C6C42F2}"/>
              </a:ext>
            </a:extLst>
          </p:cNvPr>
          <p:cNvSpPr txBox="1"/>
          <p:nvPr/>
        </p:nvSpPr>
        <p:spPr>
          <a:xfrm>
            <a:off x="1447800" y="5334000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 rtl="0" eaLnBrk="1" latinLnBrk="0" hangingPunct="1">
              <a:spcBef>
                <a:spcPts val="576"/>
              </a:spcBef>
              <a:buNone/>
            </a:pPr>
            <a:r>
              <a:rPr lang="en-US" sz="4000" kern="1200" baseline="0" dirty="0">
                <a:solidFill>
                  <a:srgbClr val="FFC000"/>
                </a:solidFill>
                <a:effectLst/>
                <a:latin typeface="Lucida Calligraphy" panose="03010101010101010101" pitchFamily="66" charset="0"/>
                <a:ea typeface="+mn-ea"/>
                <a:cs typeface="+mn-cs"/>
              </a:rPr>
              <a:t>Thank you</a:t>
            </a:r>
            <a:endParaRPr lang="en-US" sz="4000" dirty="0">
              <a:effectLst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P030001167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9E6640E6-3AE5-4CD4-9C39-AD235BE3DDA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TP030001167</Template>
  <TotalTime>9834</TotalTime>
  <Words>705</Words>
  <Application>Microsoft Office PowerPoint</Application>
  <PresentationFormat>On-screen Show (4:3)</PresentationFormat>
  <Paragraphs>122</Paragraphs>
  <Slides>18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Brush Script MT</vt:lpstr>
      <vt:lpstr>Calibri</vt:lpstr>
      <vt:lpstr>Comic Sans MS</vt:lpstr>
      <vt:lpstr>Lucida Calligraphy</vt:lpstr>
      <vt:lpstr>TP030001167</vt:lpstr>
      <vt:lpstr>Lab 4 </vt:lpstr>
      <vt:lpstr>What is HPA?</vt:lpstr>
      <vt:lpstr>The 3 components for our Demo</vt:lpstr>
      <vt:lpstr>PowerPoint Presentation</vt:lpstr>
      <vt:lpstr>PowerPoint Presentation</vt:lpstr>
      <vt:lpstr>Requests, Limits and Units</vt:lpstr>
      <vt:lpstr>HPA Math: Scale-Up Formula</vt:lpstr>
      <vt:lpstr>Demo 1a: Let's Scale with CPU!</vt:lpstr>
      <vt:lpstr>Demo 1a: the php-apache app</vt:lpstr>
      <vt:lpstr>Demo 1a: traffic generation</vt:lpstr>
      <vt:lpstr>Demo 1a Output  </vt:lpstr>
      <vt:lpstr>Demo 1a Output (Analysis)</vt:lpstr>
      <vt:lpstr>Demo 1a Output (Analysis)</vt:lpstr>
      <vt:lpstr>Demo 1b: Autoscaling Memory</vt:lpstr>
      <vt:lpstr>Units for Memory</vt:lpstr>
      <vt:lpstr>Demo 1b Output (Analysis)</vt:lpstr>
      <vt:lpstr>Key Takeaways</vt:lpstr>
      <vt:lpstr>Questions</vt:lpstr>
    </vt:vector>
  </TitlesOfParts>
  <Company>NC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Yannis Viniotis</dc:creator>
  <cp:lastModifiedBy>Ioannis Viniotis</cp:lastModifiedBy>
  <cp:revision>250</cp:revision>
  <dcterms:created xsi:type="dcterms:W3CDTF">2011-12-27T20:18:39Z</dcterms:created>
  <dcterms:modified xsi:type="dcterms:W3CDTF">2026-10-28T19:20:06Z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TC300011679990</vt:lpwstr>
  </property>
</Properties>
</file>